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6"/>
    <p:sldId id="257" r:id="rId5"/>
    <p:sldId id="258" r:id="rId4"/>
    <p:sldId id="259" r:id="rId3"/>
    <p:sldId id="260" r:id="rId2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92000" cy="68580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428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498" autoAdjust="0"/>
    <p:restoredTop sz="96247" autoAdjust="0"/>
  </p:normalViewPr>
  <p:slideViewPr>
    <p:cSldViewPr snapToGrid="0">
      <p:cViewPr varScale="1">
        <p:scale>
          <a:sx n="104" d="100"/>
          <a:sy n="104" d="100"/>
        </p:scale>
        <p:origin x="120" y="2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5.xml"/><Relationship Id="rId3" Type="http://schemas.openxmlformats.org/officeDocument/2006/relationships/slide" Target="slides/slide4.xml"/><Relationship Id="rId4" Type="http://schemas.openxmlformats.org/officeDocument/2006/relationships/slide" Target="slides/slide3.xml"/><Relationship Id="rId5" Type="http://schemas.openxmlformats.org/officeDocument/2006/relationships/slide" Target="slides/slide2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Somos la unidad de analítica de Veeduría Abierta. Investigamos si el recorte de Cundinamarca permite señalar entidades para revisión prioritaria.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El cliente no puede revisarlo todo. El producto es una lista corta. Pero antes hay que saber si el indicador mide lo que creemos.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101.475 contratos. Ojo: 275 NIT pero 336 nombres de entidad — a eso volvemos.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Subimos el límite y paginamos con $offset, dejando intactos vigencia y territorio, que el brief sí congela. Esto lo reportamos al docente.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El brief exige registrar el criterio antes de ver los datos. Así el hallazgo no se elige después.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z robusto usa mediana y MAD, no media y desviación estándar, porque las colas pesadas de SECOP arrastran a estas últimas. Este umbral no lo movimos después.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Limpiar no es ejecutar dropna() hasta que el DataFrame se vea bonito. Cualquiera de los tres puede sustentar cualquiera de las tres decisiones.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 preguntan por qué contradecimos la cápsula: la regla del NIT está escrita para proveedores. Lo verificamos entidad por entidad antes de decidir.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Sin este filtro el indicador mide calidad del reporte, no comportamiento contractual, y la lista de priorización estaría completamente equivocada.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Usamos mediana justamente porque resiste: un puñado de errores de captura casi no la mueve. Si los $0 fueran errores, subestimaríamos el volumen de quien los concentra — por eso se conservan y se declaran.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 detectamos imprimiendo todas las entidades de cada clase. El orden de las reglas importa: servicios públicos antes que municipio, y salud antes que empresa.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Cada cifra se regenera ejecutando el cuaderno de principio a fin. Ninguna se escribió a mano.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52 alcaldías comparables. Mediana 82,7 %. Soacha 97,4 % sobre 5.857 contratos, z = 1,90. Nadie cruza el umbral.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Ciclo presupuestal: los contratos de prestación de servicios se firman o renuevan al comenzar la vigencia fiscal.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Priorizar por cuantía llevaría a revisar siempre a los municipios más grandes.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objeción salió de nuestra propia duda pendiente en E1. Un analista se objeta a sí mismo antes de que lo haga el cliente.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Z es una de las cuatro confusoras típicas de SECOP: el objeto contractual.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Crudo +14,7 pp. Dentro de prestación de servicios +4,1 pp: la objeción gana. Fuera de ella +30,8 pp, que es donde las modalidades competitivas son la vía ordinaria y la elección sí admite margen.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 preguntan por qué no respaldada del todo: la evidencia alcanza para ordenar por dónde empezar, no para afirmar una anomalía estadística fuerte. Bajar el umbral después de ver los resultados habría sido hacer trampa con nuestro propio criterio.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El cálculo de potencia sobre el valor sin transformar pedía 506.000 contratos por grupo: no faltan datos, la prueba está mal planteada sobre una variable con colas así. Por eso todo el informe reporta medianas.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Cierre: el aporte del análisis no fue señalar entidades, sino corregir el indicador con el que la organización pretendía señalarlas. Gracias.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5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5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n 7">
            <a:extLst>
              <a:ext uri="{FF2B5EF4-FFF2-40B4-BE49-F238E27FC236}">
                <a16:creationId xmlns:a16="http://schemas.microsoft.com/office/drawing/2014/main" id="{4691D7E6-B46B-EDCA-7A3A-BF6D3E0D76B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435347DC-E718-9931-5E3A-08DE46352FB8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6845300" cy="685800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B5326EA0-132D-DF9B-4264-C193F8F6B50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08304" y="1122363"/>
            <a:ext cx="4711147" cy="2387600"/>
          </a:xfrm>
        </p:spPr>
        <p:txBody>
          <a:bodyPr anchor="b">
            <a:noAutofit/>
          </a:bodyPr>
          <a:lstStyle>
            <a:lvl1pPr algn="ctr">
              <a:defRPr sz="4400">
                <a:solidFill>
                  <a:schemeClr val="bg1"/>
                </a:solidFill>
              </a:defRPr>
            </a:lvl1pPr>
          </a:lstStyle>
          <a:p>
            <a:r>
              <a:rPr lang="es-MX" dirty="0"/>
              <a:t>Haz clic para modificar el estilo de título del patrón</a:t>
            </a:r>
            <a:endParaRPr lang="es-CO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DCF22643-DFEA-C4DB-BB79-DE19E6404BB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08303" y="3602038"/>
            <a:ext cx="4711147" cy="1655762"/>
          </a:xfrm>
        </p:spPr>
        <p:txBody>
          <a:bodyPr anchor="ctr">
            <a:noAutofit/>
          </a:bodyPr>
          <a:lstStyle>
            <a:lvl1pPr marL="0" indent="0" algn="ctr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MX" dirty="0"/>
              <a:t>Haz clic para editar el estilo de subtítulo del patrón</a:t>
            </a:r>
            <a:endParaRPr lang="es-CO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C5FBD7D-8B8A-1FF2-0FF3-4CA0D38DC3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0E542F4F-FC6F-0C4B-95DC-B8EE4F3DC28E}" type="slidenum">
              <a:rPr lang="es-CO" smtClean="0"/>
              <a:pPr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72159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n 7">
            <a:extLst>
              <a:ext uri="{FF2B5EF4-FFF2-40B4-BE49-F238E27FC236}">
                <a16:creationId xmlns:a16="http://schemas.microsoft.com/office/drawing/2014/main" id="{598FFC57-4AE0-6899-BB5B-08441A54BE2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22066"/>
          <a:stretch/>
        </p:blipFill>
        <p:spPr>
          <a:xfrm>
            <a:off x="0" y="0"/>
            <a:ext cx="12192000" cy="1281113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4DC81DDD-240E-C255-620C-97AD4BFB9A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7804" y="0"/>
            <a:ext cx="9885397" cy="1281114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s-MX" dirty="0"/>
              <a:t>Haz clic para modificar el estilo de título del patrón</a:t>
            </a:r>
            <a:endParaRPr lang="es-CO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54B87D7-ED7E-1DA7-A059-9E81AB8D47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39957"/>
            <a:ext cx="10515600" cy="4591878"/>
          </a:xfrm>
        </p:spPr>
        <p:txBody>
          <a:bodyPr/>
          <a:lstStyle>
            <a:lvl1pPr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4pPr>
            <a:lvl5pPr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5pPr>
          </a:lstStyle>
          <a:p>
            <a:pPr lvl="0"/>
            <a:r>
              <a:rPr lang="es-MX" dirty="0"/>
              <a:t>Haga clic para modificar los estilos de texto del patrón</a:t>
            </a:r>
          </a:p>
          <a:p>
            <a:pPr lvl="1"/>
            <a:r>
              <a:rPr lang="es-MX" dirty="0"/>
              <a:t>Segundo nivel</a:t>
            </a:r>
          </a:p>
          <a:p>
            <a:pPr lvl="2"/>
            <a:r>
              <a:rPr lang="es-MX" dirty="0"/>
              <a:t>Tercer nivel</a:t>
            </a:r>
          </a:p>
          <a:p>
            <a:pPr lvl="3"/>
            <a:r>
              <a:rPr lang="es-MX" dirty="0"/>
              <a:t>Cuarto nivel</a:t>
            </a:r>
          </a:p>
          <a:p>
            <a:pPr lvl="4"/>
            <a:r>
              <a:rPr lang="es-MX" dirty="0"/>
              <a:t>Quinto nivel</a:t>
            </a:r>
            <a:endParaRPr lang="es-CO" dirty="0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3822687-C24C-F8A6-11B0-5AB65F0025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059BEC-E07B-5A4F-8045-031BB168820A}" type="datetimeFigureOut">
              <a:rPr lang="es-CO" smtClean="0"/>
              <a:t>2/02/2024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B3F0A4C-372B-55A8-752B-08345192C3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72734F0-A67A-FAE5-9D42-2ADFFB0117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542F4F-FC6F-0C4B-95DC-B8EE4F3DC28E}" type="slidenum">
              <a:rPr lang="es-CO" smtClean="0"/>
              <a:t>‹Nº›</a:t>
            </a:fld>
            <a:endParaRPr lang="es-CO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AF1D3DB3-55C3-BFD1-344F-E9A07E623328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221590" y="65530"/>
            <a:ext cx="1978799" cy="11212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56991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55B9351-913D-7E24-B597-22A756342F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3062288"/>
            <a:ext cx="8182941" cy="1500187"/>
          </a:xfrm>
        </p:spPr>
        <p:txBody>
          <a:bodyPr anchor="b">
            <a:noAutofit/>
          </a:bodyPr>
          <a:lstStyle>
            <a:lvl1pPr>
              <a:defRPr sz="3600">
                <a:solidFill>
                  <a:schemeClr val="accent2"/>
                </a:solidFill>
              </a:defRPr>
            </a:lvl1pPr>
          </a:lstStyle>
          <a:p>
            <a:r>
              <a:rPr lang="es-MX" dirty="0"/>
              <a:t>Haz clic para modificar el estilo de título del patrón</a:t>
            </a:r>
            <a:endParaRPr lang="es-CO" dirty="0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C9EA1E88-787E-2A87-C9A4-7A4BA4BBA7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49" y="4589463"/>
            <a:ext cx="8182941" cy="1500187"/>
          </a:xfrm>
        </p:spPr>
        <p:txBody>
          <a:bodyPr>
            <a:noAutofit/>
          </a:bodyPr>
          <a:lstStyle>
            <a:lvl1pPr marL="0" indent="0"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8003FE6-C936-0937-C8D2-88D94DC5B2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4059BEC-E07B-5A4F-8045-031BB168820A}" type="datetimeFigureOut">
              <a:rPr lang="es-CO" smtClean="0"/>
              <a:pPr/>
              <a:t>2/02/2024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F3B8B3A-B2C2-714F-DF89-0B6C4FFCB3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s-CO"/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FB4133B8-A328-3F25-CAA4-29FE20A4484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80980"/>
          <a:stretch/>
        </p:blipFill>
        <p:spPr>
          <a:xfrm>
            <a:off x="9873049" y="0"/>
            <a:ext cx="2318951" cy="6858000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B786ED3A-8389-DFB7-1936-781CEE7248A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r="44911"/>
          <a:stretch/>
        </p:blipFill>
        <p:spPr>
          <a:xfrm>
            <a:off x="9820919" y="0"/>
            <a:ext cx="2423209" cy="902677"/>
          </a:xfrm>
          <a:prstGeom prst="rect">
            <a:avLst/>
          </a:prstGeom>
        </p:spPr>
      </p:pic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F42D818-E7A4-F1B9-3FC6-9C7A467455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0E542F4F-FC6F-0C4B-95DC-B8EE4F3DC28E}" type="slidenum">
              <a:rPr lang="es-CO" smtClean="0"/>
              <a:pPr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9071012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:a16="http://schemas.microsoft.com/office/drawing/2014/main" id="{8A21F60A-1CFC-D6F6-6434-46FF9998189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47022"/>
          <a:stretch/>
        </p:blipFill>
        <p:spPr>
          <a:xfrm>
            <a:off x="-1" y="6107733"/>
            <a:ext cx="12201939" cy="750267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35E1761A-42E4-7FE7-3AEA-2294771EF6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>
            <a:lvl1pPr algn="ctr">
              <a:defRPr>
                <a:solidFill>
                  <a:schemeClr val="accent1"/>
                </a:solidFill>
              </a:defRPr>
            </a:lvl1pPr>
          </a:lstStyle>
          <a:p>
            <a:r>
              <a:rPr lang="es-MX" dirty="0"/>
              <a:t>Haz clic para modificar el estilo de título del patrón</a:t>
            </a:r>
            <a:endParaRPr lang="es-CO" dirty="0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B9295F8D-CE6E-F091-4FF3-4559482CD4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0E542F4F-FC6F-0C4B-95DC-B8EE4F3DC28E}" type="slidenum">
              <a:rPr lang="es-CO" smtClean="0"/>
              <a:pPr/>
              <a:t>‹Nº›</a:t>
            </a:fld>
            <a:endParaRPr lang="es-CO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03F42859-FA71-A595-AA65-97666619424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r="44911"/>
          <a:stretch/>
        </p:blipFill>
        <p:spPr>
          <a:xfrm>
            <a:off x="1" y="6034544"/>
            <a:ext cx="2210540" cy="8234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73656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:a16="http://schemas.microsoft.com/office/drawing/2014/main" id="{8A21F60A-1CFC-D6F6-6434-46FF9998189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87283"/>
          <a:stretch/>
        </p:blipFill>
        <p:spPr>
          <a:xfrm>
            <a:off x="-1" y="6677891"/>
            <a:ext cx="12201939" cy="180109"/>
          </a:xfrm>
          <a:prstGeom prst="rect">
            <a:avLst/>
          </a:prstGeom>
        </p:spPr>
      </p:pic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B9295F8D-CE6E-F091-4FF3-4559482CD4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0E542F4F-FC6F-0C4B-95DC-B8EE4F3DC28E}" type="slidenum">
              <a:rPr lang="es-CO" smtClean="0"/>
              <a:pPr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0018869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:a16="http://schemas.microsoft.com/office/drawing/2014/main" id="{131C4CF7-1125-9A70-016C-4DA1A13C7A1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BACB40D5-7D4F-9BFA-DF36-6E44000EA1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4059BEC-E07B-5A4F-8045-031BB168820A}" type="datetimeFigureOut">
              <a:rPr lang="es-CO" smtClean="0"/>
              <a:pPr/>
              <a:t>2/02/2024</a:t>
            </a:fld>
            <a:endParaRPr lang="es-CO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F7914744-8BDC-6127-EAB7-2ED95314FA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s-CO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7D0A8E3B-1DBC-47B5-8340-C2E65B2C5E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0E542F4F-FC6F-0C4B-95DC-B8EE4F3DC28E}" type="slidenum">
              <a:rPr lang="es-CO" smtClean="0"/>
              <a:pPr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998809043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533ACAD1-657E-1ADE-D268-99EDAAFF8E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s-MX" dirty="0"/>
              <a:t>Haz clic para modificar el estilo de título del patrón</a:t>
            </a:r>
            <a:endParaRPr lang="es-CO" dirty="0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F77CBB97-5FF1-F2B7-FE18-E331DBC118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s-MX" dirty="0"/>
              <a:t>Haga clic para modificar los estilos de texto del patrón</a:t>
            </a:r>
          </a:p>
          <a:p>
            <a:pPr lvl="1"/>
            <a:r>
              <a:rPr lang="es-MX" dirty="0"/>
              <a:t>Segundo nivel</a:t>
            </a:r>
          </a:p>
          <a:p>
            <a:pPr lvl="2"/>
            <a:r>
              <a:rPr lang="es-MX" dirty="0"/>
              <a:t>Tercer nivel</a:t>
            </a:r>
          </a:p>
          <a:p>
            <a:pPr lvl="3"/>
            <a:r>
              <a:rPr lang="es-MX" dirty="0"/>
              <a:t>Cuarto nivel</a:t>
            </a:r>
          </a:p>
          <a:p>
            <a:pPr lvl="4"/>
            <a:r>
              <a:rPr lang="es-MX" dirty="0"/>
              <a:t>Quinto nivel</a:t>
            </a:r>
            <a:endParaRPr lang="es-CO" dirty="0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ED0AD4E-FCA2-AEF6-47B0-451B5F6023B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tx2"/>
                </a:solidFill>
                <a:latin typeface="Titillium" pitchFamily="2" charset="77"/>
              </a:defRPr>
            </a:lvl1pPr>
          </a:lstStyle>
          <a:p>
            <a:fld id="{64059BEC-E07B-5A4F-8045-031BB168820A}" type="datetimeFigureOut">
              <a:rPr lang="es-CO" smtClean="0"/>
              <a:pPr/>
              <a:t>2/02/2024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131A40C-2624-8350-B685-0F9463844C6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tx2"/>
                </a:solidFill>
                <a:latin typeface="Titillium" pitchFamily="2" charset="77"/>
              </a:defRPr>
            </a:lvl1pPr>
          </a:lstStyle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F79C86A-407F-4571-DF0D-43BFAB92430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tx2"/>
                </a:solidFill>
                <a:latin typeface="Titillium" pitchFamily="2" charset="77"/>
              </a:defRPr>
            </a:lvl1pPr>
          </a:lstStyle>
          <a:p>
            <a:fld id="{0E542F4F-FC6F-0C4B-95DC-B8EE4F3DC28E}" type="slidenum">
              <a:rPr lang="es-CO" smtClean="0"/>
              <a:pPr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9574639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4" r:id="rId4"/>
    <p:sldLayoutId id="2147483656" r:id="rId5"/>
    <p:sldLayoutId id="2147483655" r:id="rId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400" b="1" i="0" kern="1200">
          <a:solidFill>
            <a:schemeClr val="accent1"/>
          </a:solidFill>
          <a:latin typeface="Titillium Web" panose="00000500000000000000" pitchFamily="2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2"/>
          </a:solidFill>
          <a:latin typeface="Titillium" pitchFamily="2" charset="77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2"/>
          </a:solidFill>
          <a:latin typeface="Titillium" pitchFamily="2" charset="77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2"/>
          </a:solidFill>
          <a:latin typeface="Titillium" pitchFamily="2" charset="77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2"/>
          </a:solidFill>
          <a:latin typeface="Titillium" pitchFamily="2" charset="77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2"/>
          </a:solidFill>
          <a:latin typeface="Titillium" pitchFamily="2" charset="77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528816" y="1188720"/>
            <a:ext cx="5486400" cy="2148840"/>
          </a:xfrm>
        </p:spPr>
        <p:txBody>
          <a:bodyPr wrap="square"/>
          <a:lstStyle/>
          <a:p>
            <a:r>
              <a:rPr sz="3100" b="1">
                <a:solidFill>
                  <a:srgbClr val="FFFFFF"/>
                </a:solidFill>
                <a:latin typeface="Calibri"/>
              </a:rPr>
              <a:t>Contratación atípica en Cundinamarca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528816" y="3401568"/>
            <a:ext cx="5486400" cy="1737360"/>
          </a:xfrm>
        </p:spPr>
        <p:txBody>
          <a:bodyPr wrap="square"/>
          <a:lstStyle/>
          <a:p>
            <a:pPr algn="ctr">
              <a:spcAft>
                <a:spcPts val="1400"/>
              </a:spcAft>
            </a:pPr>
            <a:r>
              <a:rPr sz="1500" b="0">
                <a:solidFill>
                  <a:srgbClr val="C9DDF5"/>
                </a:solidFill>
                <a:latin typeface="Calibri"/>
              </a:rPr>
              <a:t>Priorización de entidades a partir de SECOP II</a:t>
            </a:r>
          </a:p>
          <a:p>
            <a:pPr algn="ctr">
              <a:spcAft>
                <a:spcPts val="8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Laboratorio SECOP · Expediente C · Equipo 5</a:t>
            </a:r>
          </a:p>
          <a:p>
            <a:pPr algn="ctr">
              <a:spcAft>
                <a:spcPts val="200"/>
              </a:spcAft>
            </a:pPr>
            <a:r>
              <a:rPr sz="1150" b="0">
                <a:solidFill>
                  <a:srgbClr val="C9DDF5"/>
                </a:solidFill>
                <a:latin typeface="Calibri"/>
              </a:rPr>
              <a:t>Neyder Sebastián Orozco Villamil · Marco Antonio Díaz González</a:t>
            </a:r>
          </a:p>
          <a:p>
            <a:pPr algn="ctr">
              <a:spcAft>
                <a:spcPts val="800"/>
              </a:spcAft>
            </a:pPr>
            <a:r>
              <a:rPr sz="1150" b="0">
                <a:solidFill>
                  <a:srgbClr val="C9DDF5"/>
                </a:solidFill>
                <a:latin typeface="Calibri"/>
              </a:rPr>
              <a:t>Miguel Ángel Espinosa Esparza</a:t>
            </a:r>
          </a:p>
          <a:p>
            <a:pPr algn="ctr">
              <a:spcAft>
                <a:spcPts val="0"/>
              </a:spcAft>
            </a:pPr>
            <a:r>
              <a:rPr sz="1150" b="0">
                <a:solidFill>
                  <a:srgbClr val="C9DDF5"/>
                </a:solidFill>
                <a:latin typeface="Calibri"/>
              </a:rPr>
              <a:t>4064 Data Analytics · Ing. Elías Buitrago Bolívar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28053" y="5266944"/>
            <a:ext cx="5487164" cy="112603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El encargo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1248" y="1572768"/>
            <a:ext cx="57607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50" b="1" i="0">
                <a:solidFill>
                  <a:srgbClr val="3259A0"/>
                </a:solidFill>
                <a:latin typeface="Calibri"/>
              </a:rPr>
              <a:t>LA AFIRMACIÓN A VERIFICAR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41248" y="1956816"/>
            <a:ext cx="5760720" cy="1371600"/>
          </a:xfrm>
          <a:prstGeom prst="roundRect">
            <a:avLst>
              <a:gd name="adj" fmla="val 6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1042415" y="2157984"/>
            <a:ext cx="5358384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 i="1">
                <a:solidFill>
                  <a:srgbClr val="0B2E5C"/>
                </a:solidFill>
                <a:latin typeface="Calibri"/>
              </a:rPr>
              <a:t>«Algunas entidades del recorte presentan patrones contractuales que justifican una revisión prioritaria».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3611880"/>
            <a:ext cx="57607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50" b="1" i="0">
                <a:solidFill>
                  <a:srgbClr val="3259A0"/>
                </a:solidFill>
                <a:latin typeface="Calibri"/>
              </a:rPr>
              <a:t>NUESTRO ROL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3950208"/>
            <a:ext cx="576072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0" i="0">
                <a:solidFill>
                  <a:srgbClr val="202124"/>
                </a:solidFill>
                <a:latin typeface="Calibri"/>
              </a:rPr>
              <a:t>Unidad de analítica de Veeduría Abierta, una organización ciudadana con capacidad de revisión limitada.</a:t>
            </a:r>
          </a:p>
          <a:p>
            <a:pPr algn="l">
              <a:spcAft>
                <a:spcPts val="200"/>
              </a:spcAft>
            </a:pPr>
            <a:r>
              <a:rPr sz="1400" b="0" i="0">
                <a:solidFill>
                  <a:srgbClr val="202124"/>
                </a:solidFill>
                <a:latin typeface="Calibri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400" b="0" i="0">
                <a:solidFill>
                  <a:srgbClr val="202124"/>
                </a:solidFill>
                <a:latin typeface="Calibri"/>
              </a:rPr>
              <a:t>No puede revisar 101.475 contratos ni 275 entidades: necesita una lista corta y ordenada, con la razón por la que cada entidad entró en ella.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995160" y="1737360"/>
            <a:ext cx="4343400" cy="3383280"/>
          </a:xfrm>
          <a:prstGeom prst="roundRect">
            <a:avLst>
              <a:gd name="adj" fmla="val 6000"/>
            </a:avLst>
          </a:prstGeom>
          <a:solidFill>
            <a:srgbClr val="0B2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7269480" y="2011680"/>
            <a:ext cx="3794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50" b="1" i="0">
                <a:solidFill>
                  <a:srgbClr val="5B9BD5"/>
                </a:solidFill>
                <a:latin typeface="Calibri"/>
              </a:rPr>
              <a:t>LA PREGUNTA REAL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69480" y="2487168"/>
            <a:ext cx="3794760" cy="3017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 i="0">
                <a:solidFill>
                  <a:srgbClr val="FFFFFF"/>
                </a:solidFill>
                <a:latin typeface="Calibri"/>
              </a:rPr>
              <a:t>No es cuáles entidades destacan.</a:t>
            </a:r>
          </a:p>
          <a:p>
            <a:pPr algn="l">
              <a:spcAft>
                <a:spcPts val="400"/>
              </a:spcAft>
            </a:pPr>
            <a:r>
              <a:rPr sz="16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600" b="0" i="0">
                <a:solidFill>
                  <a:srgbClr val="FFFFFF"/>
                </a:solidFill>
                <a:latin typeface="Calibri"/>
              </a:rPr>
              <a:t>Es si lo que las hace destacar es su comportamiento contractual o una característica estructural ajena a él.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El recorte asignado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1248" y="1536192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5F6368"/>
                </a:solidFill>
                <a:latin typeface="Calibri"/>
              </a:rPr>
              <a:t>SECOP II · Departamento de Cundinamarca · firmas entre el 01-01-2024 y el 31-12-2025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41248" y="2057400"/>
            <a:ext cx="2450592" cy="1417320"/>
          </a:xfrm>
          <a:prstGeom prst="roundRect">
            <a:avLst>
              <a:gd name="adj" fmla="val 6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1005840" y="2203704"/>
            <a:ext cx="2121408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3600" b="1" i="0">
                <a:solidFill>
                  <a:srgbClr val="3259A0"/>
                </a:solidFill>
                <a:latin typeface="Calibri"/>
              </a:rPr>
              <a:t>101.475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843784"/>
            <a:ext cx="2121408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150" b="0" i="0">
                <a:solidFill>
                  <a:srgbClr val="5F6368"/>
                </a:solidFill>
                <a:latin typeface="Calibri"/>
              </a:rPr>
              <a:t>contratos, cada fila un</a:t>
            </a:r>
          </a:p>
          <a:p>
            <a:pPr algn="ctr">
              <a:spcAft>
                <a:spcPts val="600"/>
              </a:spcAft>
            </a:pPr>
            <a:r>
              <a:rPr sz="1150" b="0" i="0">
                <a:solidFill>
                  <a:srgbClr val="5F6368"/>
                </a:solidFill>
                <a:latin typeface="Calibri"/>
              </a:rPr>
              <a:t>contrato único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56432" y="2057400"/>
            <a:ext cx="2450592" cy="1417320"/>
          </a:xfrm>
          <a:prstGeom prst="roundRect">
            <a:avLst>
              <a:gd name="adj" fmla="val 6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3621024" y="2203704"/>
            <a:ext cx="2121408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3600" b="1" i="0">
                <a:solidFill>
                  <a:srgbClr val="3259A0"/>
                </a:solidFill>
                <a:latin typeface="Calibri"/>
              </a:rPr>
              <a:t>275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21024" y="2843784"/>
            <a:ext cx="2121408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150" b="0" i="0">
                <a:solidFill>
                  <a:srgbClr val="5F6368"/>
                </a:solidFill>
                <a:latin typeface="Calibri"/>
              </a:rPr>
              <a:t>entidades contratantes</a:t>
            </a:r>
          </a:p>
          <a:p>
            <a:pPr algn="ctr">
              <a:spcAft>
                <a:spcPts val="600"/>
              </a:spcAft>
            </a:pPr>
            <a:r>
              <a:rPr sz="1150" b="0" i="0">
                <a:solidFill>
                  <a:srgbClr val="5F6368"/>
                </a:solidFill>
                <a:latin typeface="Calibri"/>
              </a:rPr>
              <a:t>(336 nombres distintos)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71616" y="2057400"/>
            <a:ext cx="2450592" cy="1417320"/>
          </a:xfrm>
          <a:prstGeom prst="roundRect">
            <a:avLst>
              <a:gd name="adj" fmla="val 6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236207" y="2203704"/>
            <a:ext cx="2121408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3600" b="1" i="0">
                <a:solidFill>
                  <a:srgbClr val="3259A0"/>
                </a:solidFill>
                <a:latin typeface="Calibri"/>
              </a:rPr>
              <a:t>85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36207" y="2843784"/>
            <a:ext cx="2121408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150" b="0" i="0">
                <a:solidFill>
                  <a:srgbClr val="5F6368"/>
                </a:solidFill>
                <a:latin typeface="Calibri"/>
              </a:rPr>
              <a:t>variables por contrato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686800" y="2057400"/>
            <a:ext cx="2450592" cy="1417320"/>
          </a:xfrm>
          <a:prstGeom prst="roundRect">
            <a:avLst>
              <a:gd name="adj" fmla="val 6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851392" y="2203704"/>
            <a:ext cx="2121408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3600" b="1" i="0">
                <a:solidFill>
                  <a:srgbClr val="3259A0"/>
                </a:solidFill>
                <a:latin typeface="Calibri"/>
              </a:rPr>
              <a:t>24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51392" y="2843784"/>
            <a:ext cx="2121408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150" b="0" i="0">
                <a:solidFill>
                  <a:srgbClr val="5F6368"/>
                </a:solidFill>
                <a:latin typeface="Calibri"/>
              </a:rPr>
              <a:t>meses de vigencia</a:t>
            </a:r>
          </a:p>
          <a:p>
            <a:pPr algn="ctr">
              <a:spcAft>
                <a:spcPts val="600"/>
              </a:spcAft>
            </a:pPr>
            <a:r>
              <a:rPr sz="1150" b="0" i="0">
                <a:solidFill>
                  <a:srgbClr val="5F6368"/>
                </a:solidFill>
                <a:latin typeface="Calibri"/>
              </a:rPr>
              <a:t>cubiertos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41248" y="3886200"/>
            <a:ext cx="10296144" cy="1828800"/>
          </a:xfrm>
          <a:prstGeom prst="roundRect">
            <a:avLst>
              <a:gd name="adj" fmla="val 6000"/>
            </a:avLst>
          </a:prstGeom>
          <a:solidFill>
            <a:srgbClr val="0B2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1143000" y="4114800"/>
            <a:ext cx="9692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50" b="1" i="0">
                <a:solidFill>
                  <a:srgbClr val="5B9BD5"/>
                </a:solidFill>
                <a:latin typeface="Calibri"/>
              </a:rPr>
              <a:t>LO PRIMERO QUE MIRAMOS, NO LO ÚLTIMO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3000" y="4553712"/>
            <a:ext cx="969264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0" i="0">
                <a:solidFill>
                  <a:srgbClr val="FFFFFF"/>
                </a:solidFill>
                <a:latin typeface="Calibri"/>
              </a:rPr>
              <a:t>El 71,6 % del recorte se tramita por contratación directa. Un indicador que señale «contratación directa alta» sin una referencia de pares señalaría a casi todo el departamento.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Primera incidencia: el recorte venía truncado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1248" y="1554480"/>
            <a:ext cx="105156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202124"/>
                </a:solidFill>
                <a:latin typeface="Calibri"/>
              </a:rPr>
              <a:t>El cuaderno preparado traía MAX_FILAS = 50.000 y una sola llamada a la API.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41248" y="2148840"/>
            <a:ext cx="3200400" cy="1508760"/>
          </a:xfrm>
          <a:prstGeom prst="roundRect">
            <a:avLst>
              <a:gd name="adj" fmla="val 6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1005840" y="2377440"/>
            <a:ext cx="2871216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3400" b="1" i="0">
                <a:solidFill>
                  <a:srgbClr val="5F6368"/>
                </a:solidFill>
                <a:latin typeface="Calibri"/>
              </a:rPr>
              <a:t>50.000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999232"/>
            <a:ext cx="2871216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150" b="0" i="0">
                <a:solidFill>
                  <a:srgbClr val="5F6368"/>
                </a:solidFill>
                <a:latin typeface="Calibri"/>
              </a:rPr>
              <a:t>lo que se habría</a:t>
            </a:r>
          </a:p>
          <a:p>
            <a:pPr algn="ctr">
              <a:spcAft>
                <a:spcPts val="600"/>
              </a:spcAft>
            </a:pPr>
            <a:r>
              <a:rPr sz="1150" b="0" i="0">
                <a:solidFill>
                  <a:srgbClr val="5F6368"/>
                </a:solidFill>
                <a:latin typeface="Calibri"/>
              </a:rPr>
              <a:t>descargado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24528" y="2148840"/>
            <a:ext cx="3200400" cy="1508760"/>
          </a:xfrm>
          <a:prstGeom prst="roundRect">
            <a:avLst>
              <a:gd name="adj" fmla="val 6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4389120" y="2377440"/>
            <a:ext cx="2871216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3400" b="1" i="0">
                <a:solidFill>
                  <a:srgbClr val="3259A0"/>
                </a:solidFill>
                <a:latin typeface="Calibri"/>
              </a:rPr>
              <a:t>101.475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0" y="2999232"/>
            <a:ext cx="2871216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150" b="0" i="0">
                <a:solidFill>
                  <a:srgbClr val="5F6368"/>
                </a:solidFill>
                <a:latin typeface="Calibri"/>
              </a:rPr>
              <a:t>lo que realmente</a:t>
            </a:r>
          </a:p>
          <a:p>
            <a:pPr algn="ctr">
              <a:spcAft>
                <a:spcPts val="600"/>
              </a:spcAft>
            </a:pPr>
            <a:r>
              <a:rPr sz="1150" b="0" i="0">
                <a:solidFill>
                  <a:srgbClr val="5F6368"/>
                </a:solidFill>
                <a:latin typeface="Calibri"/>
              </a:rPr>
              <a:t>tiene el caso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07808" y="2148840"/>
            <a:ext cx="3529584" cy="1508760"/>
          </a:xfrm>
          <a:prstGeom prst="roundRect">
            <a:avLst>
              <a:gd name="adj" fmla="val 6000"/>
            </a:avLst>
          </a:prstGeom>
          <a:solidFill>
            <a:srgbClr val="D55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7772400" y="2377440"/>
            <a:ext cx="3200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3400" b="1" i="0">
                <a:solidFill>
                  <a:srgbClr val="FFFFFF"/>
                </a:solidFill>
                <a:latin typeface="Calibri"/>
              </a:rPr>
              <a:t>49,3 %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2999232"/>
            <a:ext cx="3200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150" b="0" i="0">
                <a:solidFill>
                  <a:srgbClr val="FFFFFF"/>
                </a:solidFill>
                <a:latin typeface="Calibri"/>
              </a:rPr>
              <a:t>del caso se habría</a:t>
            </a:r>
          </a:p>
          <a:p>
            <a:pPr algn="ctr">
              <a:spcAft>
                <a:spcPts val="600"/>
              </a:spcAft>
            </a:pPr>
            <a:r>
              <a:rPr sz="1150" b="0" i="0">
                <a:solidFill>
                  <a:srgbClr val="FFFFFF"/>
                </a:solidFill>
                <a:latin typeface="Calibri"/>
              </a:rPr>
              <a:t>perdido en silencio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" y="3950208"/>
            <a:ext cx="1029614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50" b="1" i="0">
                <a:solidFill>
                  <a:srgbClr val="3259A0"/>
                </a:solidFill>
                <a:latin typeface="Calibri"/>
              </a:rPr>
              <a:t>POR QUÉ IMPORTABA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" y="4343400"/>
            <a:ext cx="10296144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0" i="0">
                <a:solidFill>
                  <a:srgbClr val="202124"/>
                </a:solidFill>
                <a:latin typeface="Calibri"/>
              </a:rPr>
              <a:t>La consulta ordena por fecha de firma ascendente: el corte no habría sido aleatorio, habría eliminado el final del periodo — buena parte de 2025.</a:t>
            </a:r>
          </a:p>
          <a:p>
            <a:pPr algn="l">
              <a:spcAft>
                <a:spcPts val="400"/>
              </a:spcAft>
            </a:pPr>
            <a:r>
              <a:rPr sz="1450" b="0" i="0">
                <a:solidFill>
                  <a:srgbClr val="202124"/>
                </a:solidFill>
                <a:latin typeface="Calibri"/>
              </a:rPr>
              <a:t>Como la distribución temporal de las firmas es uno de nuestros tres indicadores, el análisis habría quedado invalidado de raíz, y nada en las tablas lo habría mostrado.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3400" b="1">
                <a:solidFill>
                  <a:srgbClr val="0B2E5C"/>
                </a:solidFill>
                <a:latin typeface="Calibri"/>
              </a:rPr>
              <a:t>Decidir antes de mirar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r>
              <a:rPr sz="1700">
                <a:solidFill>
                  <a:srgbClr val="5F6368"/>
                </a:solidFill>
                <a:latin typeface="Calibri"/>
              </a:rPr>
              <a:t>El criterio que fijamos antes de calcular cualquier resultado</a:t>
            </a:r>
          </a:p>
        </p:txBody>
      </p:sp>
      <p:pic>
        <p:nvPicPr>
          <p:cNvPr id="4" name="Picture 3" descr="logo_s3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6846" y="5605229"/>
            <a:ext cx="2444739" cy="96884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El criterio previo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1248" y="1517904"/>
            <a:ext cx="1051560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50" b="1" i="0">
                <a:solidFill>
                  <a:srgbClr val="3259A0"/>
                </a:solidFill>
                <a:latin typeface="Calibri"/>
              </a:rPr>
              <a:t>TRES INDICADORES POR ENTIDAD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41248" y="1920240"/>
            <a:ext cx="3310128" cy="1828800"/>
          </a:xfrm>
          <a:prstGeom prst="roundRect">
            <a:avLst>
              <a:gd name="adj" fmla="val 6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Oval 4"/>
          <p:cNvSpPr/>
          <p:nvPr/>
        </p:nvSpPr>
        <p:spPr>
          <a:xfrm>
            <a:off x="1042416" y="2103120"/>
            <a:ext cx="475488" cy="475488"/>
          </a:xfrm>
          <a:prstGeom prst="ellipse">
            <a:avLst/>
          </a:prstGeom>
          <a:solidFill>
            <a:srgbClr val="325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42416" y="2212848"/>
            <a:ext cx="47548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I1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20" y="2103120"/>
            <a:ext cx="2286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1" i="0">
                <a:solidFill>
                  <a:srgbClr val="202124"/>
                </a:solidFill>
                <a:latin typeface="Calibri"/>
              </a:rPr>
              <a:t>Proporción de</a:t>
            </a:r>
          </a:p>
          <a:p>
            <a:pPr algn="l">
              <a:spcAft>
                <a:spcPts val="0"/>
              </a:spcAft>
            </a:pPr>
            <a:r>
              <a:rPr sz="1450" b="1" i="0">
                <a:solidFill>
                  <a:srgbClr val="202124"/>
                </a:solidFill>
                <a:latin typeface="Calibri"/>
              </a:rPr>
              <a:t>contratación directa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2416" y="2852928"/>
            <a:ext cx="2907792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0" i="0">
                <a:solidFill>
                  <a:srgbClr val="5F6368"/>
                </a:solidFill>
                <a:latin typeface="Calibri"/>
              </a:rPr>
              <a:t>Contratos por contratación directa sobre el total de la entidad.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34256" y="1920240"/>
            <a:ext cx="3310128" cy="1828800"/>
          </a:xfrm>
          <a:prstGeom prst="roundRect">
            <a:avLst>
              <a:gd name="adj" fmla="val 6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Oval 9"/>
          <p:cNvSpPr/>
          <p:nvPr/>
        </p:nvSpPr>
        <p:spPr>
          <a:xfrm>
            <a:off x="4535424" y="2103120"/>
            <a:ext cx="475488" cy="475488"/>
          </a:xfrm>
          <a:prstGeom prst="ellipse">
            <a:avLst/>
          </a:prstGeom>
          <a:solidFill>
            <a:srgbClr val="5B9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35424" y="2212848"/>
            <a:ext cx="47548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I2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38928" y="2103120"/>
            <a:ext cx="2286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1" i="0">
                <a:solidFill>
                  <a:srgbClr val="202124"/>
                </a:solidFill>
                <a:latin typeface="Calibri"/>
              </a:rPr>
              <a:t>Concentración temporal</a:t>
            </a:r>
          </a:p>
          <a:p>
            <a:pPr algn="l">
              <a:spcAft>
                <a:spcPts val="0"/>
              </a:spcAft>
            </a:pPr>
            <a:r>
              <a:rPr sz="1450" b="1" i="0">
                <a:solidFill>
                  <a:srgbClr val="202124"/>
                </a:solidFill>
                <a:latin typeface="Calibri"/>
              </a:rPr>
              <a:t>de las firmas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35424" y="2852928"/>
            <a:ext cx="2907792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0" i="0">
                <a:solidFill>
                  <a:srgbClr val="5F6368"/>
                </a:solidFill>
                <a:latin typeface="Calibri"/>
              </a:rPr>
              <a:t>HHI mensual. Reparto uniforme = 0,042. Todo en un mes = 1.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827264" y="1920240"/>
            <a:ext cx="3310128" cy="1828800"/>
          </a:xfrm>
          <a:prstGeom prst="roundRect">
            <a:avLst>
              <a:gd name="adj" fmla="val 6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Oval 14"/>
          <p:cNvSpPr/>
          <p:nvPr/>
        </p:nvSpPr>
        <p:spPr>
          <a:xfrm>
            <a:off x="8028432" y="2103120"/>
            <a:ext cx="475488" cy="475488"/>
          </a:xfrm>
          <a:prstGeom prst="ellipse">
            <a:avLst/>
          </a:prstGeom>
          <a:solidFill>
            <a:srgbClr val="009E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28432" y="2212848"/>
            <a:ext cx="47548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I3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31936" y="2103120"/>
            <a:ext cx="2286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1" i="0">
                <a:solidFill>
                  <a:srgbClr val="202124"/>
                </a:solidFill>
                <a:latin typeface="Calibri"/>
              </a:rPr>
              <a:t>Cuantía mediana</a:t>
            </a:r>
          </a:p>
          <a:p>
            <a:pPr algn="l">
              <a:spcAft>
                <a:spcPts val="0"/>
              </a:spcAft>
            </a:pPr>
            <a:r>
              <a:rPr sz="1450" b="1" i="0">
                <a:solidFill>
                  <a:srgbClr val="202124"/>
                </a:solidFill>
                <a:latin typeface="Calibri"/>
              </a:rPr>
              <a:t>del contrato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28432" y="2852928"/>
            <a:ext cx="2907792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0" i="0">
                <a:solidFill>
                  <a:srgbClr val="5F6368"/>
                </a:solidFill>
                <a:latin typeface="Calibri"/>
              </a:rPr>
              <a:t>Mediana, no media: las cuantías tienen colas pesadas.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41248" y="4297680"/>
            <a:ext cx="10296144" cy="1417320"/>
          </a:xfrm>
          <a:prstGeom prst="roundRect">
            <a:avLst>
              <a:gd name="adj" fmla="val 6000"/>
            </a:avLst>
          </a:prstGeom>
          <a:solidFill>
            <a:srgbClr val="0B2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1143000" y="4498848"/>
            <a:ext cx="475488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50" b="1" i="0">
                <a:solidFill>
                  <a:srgbClr val="5B9BD5"/>
                </a:solidFill>
                <a:latin typeface="Calibri"/>
              </a:rPr>
              <a:t>LA REFERENCIA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43000" y="4864608"/>
            <a:ext cx="47548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50" b="0" i="0">
                <a:solidFill>
                  <a:srgbClr val="FFFFFF"/>
                </a:solidFill>
                <a:latin typeface="Calibri"/>
              </a:rPr>
              <a:t>La mediana de su grupo de pares, no un ideal abstracto.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9360" y="4498848"/>
            <a:ext cx="484632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50" b="1" i="0">
                <a:solidFill>
                  <a:srgbClr val="5B9BD5"/>
                </a:solidFill>
                <a:latin typeface="Calibri"/>
              </a:rPr>
              <a:t>EL UMBRAL, FIJADO DE ANTEMANO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09360" y="4864608"/>
            <a:ext cx="48463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 i="0">
                <a:solidFill>
                  <a:srgbClr val="FFFFFF"/>
                </a:solidFill>
                <a:latin typeface="Calibri"/>
              </a:rPr>
              <a:t>z robusto ≥ 2 en un indicador → revisión.</a:t>
            </a:r>
          </a:p>
          <a:p>
            <a:pPr algn="l">
              <a:spcAft>
                <a:spcPts val="0"/>
              </a:spcAft>
            </a:pPr>
            <a:r>
              <a:rPr sz="1450" b="0" i="0">
                <a:solidFill>
                  <a:srgbClr val="FFFFFF"/>
                </a:solidFill>
                <a:latin typeface="Calibri"/>
              </a:rPr>
              <a:t>En dos o más → prioridad alta.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3400" b="1">
                <a:solidFill>
                  <a:srgbClr val="0B2E5C"/>
                </a:solidFill>
                <a:latin typeface="Calibri"/>
              </a:rPr>
              <a:t>Tres decisiones de preparación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700">
                <a:solidFill>
                  <a:srgbClr val="5F6368"/>
                </a:solidFill>
                <a:latin typeface="Calibri"/>
              </a:rPr>
              <a:t>Cada una con su evidencia y con qué pasaría si estuviera equivocada</a:t>
            </a:r>
          </a:p>
        </p:txBody>
      </p:sp>
      <p:pic>
        <p:nvPicPr>
          <p:cNvPr id="4" name="Picture 3" descr="logo_s3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6846" y="5605229"/>
            <a:ext cx="2444739" cy="96884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Decisión 1 · La llave de identidad de la entidad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1248" y="1554480"/>
            <a:ext cx="539496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50" b="1" i="0">
                <a:solidFill>
                  <a:srgbClr val="3259A0"/>
                </a:solidFill>
                <a:latin typeface="Calibri"/>
              </a:rPr>
              <a:t>LO QUE ENCONTRAMOS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938528"/>
            <a:ext cx="53949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202124"/>
                </a:solidFill>
                <a:latin typeface="Calibri"/>
              </a:rPr>
              <a:t>275 números de identificación tributaria, pero 336 nombres de entidad. En 43 NIT aparece más de un nombre.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41248" y="2944368"/>
            <a:ext cx="5394960" cy="1737360"/>
          </a:xfrm>
          <a:prstGeom prst="roundRect">
            <a:avLst>
              <a:gd name="adj" fmla="val 6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1078992" y="3145536"/>
            <a:ext cx="49377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0B2E5C"/>
                </a:solidFill>
                <a:latin typeface="Calibri"/>
              </a:rPr>
              <a:t>NIT 899999712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" y="3520440"/>
            <a:ext cx="493776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350" b="0" i="0">
                <a:solidFill>
                  <a:srgbClr val="202124"/>
                </a:solidFill>
                <a:latin typeface="Calibri"/>
              </a:rPr>
              <a:t>Municipio de La Calera — 1.009 contratos</a:t>
            </a:r>
          </a:p>
          <a:p>
            <a:pPr algn="l">
              <a:spcAft>
                <a:spcPts val="500"/>
              </a:spcAft>
            </a:pPr>
            <a:r>
              <a:rPr sz="1350" b="0" i="0">
                <a:solidFill>
                  <a:srgbClr val="202124"/>
                </a:solidFill>
                <a:latin typeface="Calibri"/>
              </a:rPr>
              <a:t>Concejo Municipal de La Calera — 31 contratos</a:t>
            </a:r>
          </a:p>
          <a:p>
            <a:pPr algn="l">
              <a:spcAft>
                <a:spcPts val="500"/>
              </a:spcAft>
            </a:pPr>
            <a:r>
              <a:rPr sz="1350" b="0" i="0">
                <a:solidFill>
                  <a:srgbClr val="202124"/>
                </a:solidFill>
                <a:latin typeface="Calibri"/>
              </a:rPr>
              <a:t>Personería Municipal de La Calera — 10 contratos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0" y="1554480"/>
            <a:ext cx="475488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50" b="1" i="0">
                <a:solidFill>
                  <a:srgbClr val="3259A0"/>
                </a:solidFill>
                <a:latin typeface="Calibri"/>
              </a:rPr>
              <a:t>LA DECISIÓN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1938528"/>
            <a:ext cx="47548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202124"/>
                </a:solidFill>
                <a:latin typeface="Calibri"/>
              </a:rPr>
              <a:t>La unidad de análisis es el nombre de la entidad, no el NIT.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0" y="2944368"/>
            <a:ext cx="4754880" cy="1737360"/>
          </a:xfrm>
          <a:prstGeom prst="roundRect">
            <a:avLst>
              <a:gd name="adj" fmla="val 6000"/>
            </a:avLst>
          </a:prstGeom>
          <a:solidFill>
            <a:srgbClr val="0B2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839712" y="3145536"/>
            <a:ext cx="4242816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50" b="1" i="0">
                <a:solidFill>
                  <a:srgbClr val="E69F00"/>
                </a:solidFill>
                <a:latin typeface="Calibri"/>
              </a:rPr>
              <a:t>CONTRADICE LA REGLA GENERAL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39712" y="3547872"/>
            <a:ext cx="4242816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0" i="0">
                <a:solidFill>
                  <a:srgbClr val="FFFFFF"/>
                </a:solidFill>
                <a:latin typeface="Calibri"/>
              </a:rPr>
              <a:t>La cápsula dice agrupar por identificador numérico. Esa regla es correcta para proveedores, donde el NIT es una sola persona jurídica. Para entidades territoriales colombianas se invierte.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" y="4956048"/>
            <a:ext cx="105156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1">
                <a:solidFill>
                  <a:srgbClr val="5F6368"/>
                </a:solidFill>
                <a:latin typeface="Calibri"/>
              </a:rPr>
              <a:t>Si nos equivocamos: agrupar por NIT fusionaría una alcaldía de miles de contratos con su concejo y su personería, y el indicador de la entidad fusionada no significaría nada.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Decisión 2 · La cobertura de reporte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1248" y="1554480"/>
            <a:ext cx="10515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202124"/>
                </a:solidFill>
                <a:latin typeface="Calibri"/>
              </a:rPr>
              <a:t>El ranking crudo de concentración temporal estaba encabezado por entidades que no contratan de forma atípica: reportan de forma incompleta.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41248" y="2487168"/>
            <a:ext cx="3200400" cy="1600200"/>
          </a:xfrm>
          <a:prstGeom prst="roundRect">
            <a:avLst>
              <a:gd name="adj" fmla="val 6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1005840" y="2633472"/>
            <a:ext cx="2871216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3000" b="1" i="0">
                <a:solidFill>
                  <a:srgbClr val="3259A0"/>
                </a:solidFill>
                <a:latin typeface="Calibri"/>
              </a:rPr>
              <a:t>15 de 119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273552"/>
            <a:ext cx="2871216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150" b="0" i="0">
                <a:solidFill>
                  <a:srgbClr val="5F6368"/>
                </a:solidFill>
                <a:latin typeface="Calibri"/>
              </a:rPr>
              <a:t>entidades territoriales con ≥ 100 contratos</a:t>
            </a:r>
          </a:p>
          <a:p>
            <a:pPr algn="ctr">
              <a:spcAft>
                <a:spcPts val="600"/>
              </a:spcAft>
            </a:pPr>
            <a:r>
              <a:rPr sz="1150" b="0" i="0">
                <a:solidFill>
                  <a:srgbClr val="5F6368"/>
                </a:solidFill>
                <a:latin typeface="Calibri"/>
              </a:rPr>
              <a:t>publican en menos de 18 de los 24 meses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24528" y="2487168"/>
            <a:ext cx="3200400" cy="1600200"/>
          </a:xfrm>
          <a:prstGeom prst="roundRect">
            <a:avLst>
              <a:gd name="adj" fmla="val 6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4389120" y="2633472"/>
            <a:ext cx="2871216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3000" b="1" i="0">
                <a:solidFill>
                  <a:srgbClr val="D55E00"/>
                </a:solidFill>
                <a:latin typeface="Calibri"/>
              </a:rPr>
              <a:t>3 meses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0" y="3273552"/>
            <a:ext cx="2871216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150" b="0" i="0">
                <a:solidFill>
                  <a:srgbClr val="5F6368"/>
                </a:solidFill>
                <a:latin typeface="Calibri"/>
              </a:rPr>
              <a:t>reporta la ESE de Tabio, con el 77,2 %</a:t>
            </a:r>
          </a:p>
          <a:p>
            <a:pPr algn="ctr">
              <a:spcAft>
                <a:spcPts val="600"/>
              </a:spcAft>
            </a:pPr>
            <a:r>
              <a:rPr sz="1150" b="0" i="0">
                <a:solidFill>
                  <a:srgbClr val="5F6368"/>
                </a:solidFill>
                <a:latin typeface="Calibri"/>
              </a:rPr>
              <a:t>de sus contratos en uno solo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07808" y="2487168"/>
            <a:ext cx="3529584" cy="1600200"/>
          </a:xfrm>
          <a:prstGeom prst="roundRect">
            <a:avLst>
              <a:gd name="adj" fmla="val 6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7772400" y="2633472"/>
            <a:ext cx="32004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3000" b="1" i="0">
                <a:solidFill>
                  <a:srgbClr val="D55E00"/>
                </a:solidFill>
                <a:latin typeface="Calibri"/>
              </a:rPr>
              <a:t>6 meses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3273552"/>
            <a:ext cx="32004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150" b="0" i="0">
                <a:solidFill>
                  <a:srgbClr val="5F6368"/>
                </a:solidFill>
                <a:latin typeface="Calibri"/>
              </a:rPr>
              <a:t>reporta la Alcaldía de Viotá,</a:t>
            </a:r>
          </a:p>
          <a:p>
            <a:pPr algn="ctr">
              <a:spcAft>
                <a:spcPts val="600"/>
              </a:spcAft>
            </a:pPr>
            <a:r>
              <a:rPr sz="1150" b="0" i="0">
                <a:solidFill>
                  <a:srgbClr val="5F6368"/>
                </a:solidFill>
                <a:latin typeface="Calibri"/>
              </a:rPr>
              <a:t>con el HHI más alto del recorte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41248" y="4343400"/>
            <a:ext cx="10296144" cy="1371600"/>
          </a:xfrm>
          <a:prstGeom prst="roundRect">
            <a:avLst>
              <a:gd name="adj" fmla="val 6000"/>
            </a:avLst>
          </a:prstGeom>
          <a:solidFill>
            <a:srgbClr val="0B2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1143000" y="4544568"/>
            <a:ext cx="969264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50" b="1" i="0">
                <a:solidFill>
                  <a:srgbClr val="5B9BD5"/>
                </a:solidFill>
                <a:latin typeface="Calibri"/>
              </a:rPr>
              <a:t>LA DECISIÓN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4919472"/>
            <a:ext cx="96926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50" b="0" i="0">
                <a:solidFill>
                  <a:srgbClr val="FFFFFF"/>
                </a:solidFill>
                <a:latin typeface="Calibri"/>
              </a:rPr>
              <a:t>Comparamos solo entidades con ≥ 100 contratos y ≥ 18 meses de reporte. Las 15 apartadas no se borran: se entregan como lista de transparencia, que es un hallazgo de otra naturaleza.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Decisión 3 · Los ceros y los valores extremos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1248" y="1536192"/>
            <a:ext cx="512064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50" b="1" i="0">
                <a:solidFill>
                  <a:srgbClr val="3259A0"/>
                </a:solidFill>
                <a:latin typeface="Calibri"/>
              </a:rPr>
              <a:t>LA TRAMPA DE LA MEDIA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41248" y="1920240"/>
            <a:ext cx="2450592" cy="1371600"/>
          </a:xfrm>
          <a:prstGeom prst="roundRect">
            <a:avLst>
              <a:gd name="adj" fmla="val 6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960120" y="2139696"/>
            <a:ext cx="2212848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2700" b="1" i="0">
                <a:solidFill>
                  <a:srgbClr val="E69F00"/>
                </a:solidFill>
                <a:latin typeface="Calibri"/>
              </a:rPr>
              <a:t>$96,2 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2724912"/>
            <a:ext cx="2212848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250" b="0" i="0">
                <a:solidFill>
                  <a:srgbClr val="5F6368"/>
                </a:solidFill>
                <a:latin typeface="Calibri"/>
              </a:rPr>
              <a:t>media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511296" y="1920240"/>
            <a:ext cx="2450592" cy="1371600"/>
          </a:xfrm>
          <a:prstGeom prst="roundRect">
            <a:avLst>
              <a:gd name="adj" fmla="val 6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3630168" y="2139696"/>
            <a:ext cx="2212848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2700" b="1" i="0">
                <a:solidFill>
                  <a:srgbClr val="3259A0"/>
                </a:solidFill>
                <a:latin typeface="Calibri"/>
              </a:rPr>
              <a:t>$17,6 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30168" y="2724912"/>
            <a:ext cx="2212848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250" b="0" i="0">
                <a:solidFill>
                  <a:srgbClr val="5F6368"/>
                </a:solidFill>
                <a:latin typeface="Calibri"/>
              </a:rPr>
              <a:t>mediana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3429000"/>
            <a:ext cx="51206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202124"/>
                </a:solidFill>
                <a:latin typeface="Calibri"/>
              </a:rPr>
              <a:t>La media es 5,5 veces la mediana. El 0,1 % de contratos mayores —100 contratos— concentra el 34,9 % del valor total.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1536192"/>
            <a:ext cx="493776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50" b="1" i="0">
                <a:solidFill>
                  <a:srgbClr val="3259A0"/>
                </a:solidFill>
                <a:latin typeface="Calibri"/>
              </a:rPr>
              <a:t>LA DECISIÓN</a:t>
            </a:r>
          </a:p>
        </p:txBody>
      </p:sp>
      <p:sp>
        <p:nvSpPr>
          <p:cNvPr id="12" name="Oval 11"/>
          <p:cNvSpPr/>
          <p:nvPr/>
        </p:nvSpPr>
        <p:spPr>
          <a:xfrm>
            <a:off x="6400800" y="1984248"/>
            <a:ext cx="118872" cy="118872"/>
          </a:xfrm>
          <a:prstGeom prst="ellipse">
            <a:avLst/>
          </a:prstGeom>
          <a:solidFill>
            <a:srgbClr val="325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75120" y="1920240"/>
            <a:ext cx="4663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50" b="1" i="0">
                <a:solidFill>
                  <a:srgbClr val="202124"/>
                </a:solidFill>
                <a:latin typeface="Calibri"/>
              </a:rPr>
              <a:t>No se elimina ninguna fila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0" y="2176272"/>
            <a:ext cx="46634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0" i="0">
                <a:solidFill>
                  <a:srgbClr val="5F6368"/>
                </a:solidFill>
                <a:latin typeface="Calibri"/>
              </a:rPr>
              <a:t>Ni un solo registro sale del análisis.</a:t>
            </a:r>
          </a:p>
        </p:txBody>
      </p:sp>
      <p:sp>
        <p:nvSpPr>
          <p:cNvPr id="15" name="Oval 14"/>
          <p:cNvSpPr/>
          <p:nvPr/>
        </p:nvSpPr>
        <p:spPr>
          <a:xfrm>
            <a:off x="6400800" y="2532888"/>
            <a:ext cx="118872" cy="118872"/>
          </a:xfrm>
          <a:prstGeom prst="ellipse">
            <a:avLst/>
          </a:prstGeom>
          <a:solidFill>
            <a:srgbClr val="325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75120" y="2468880"/>
            <a:ext cx="4663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50" b="1" i="0">
                <a:solidFill>
                  <a:srgbClr val="202124"/>
                </a:solidFill>
                <a:latin typeface="Calibri"/>
              </a:rPr>
              <a:t>Los 719 contratos en $0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75120" y="2724912"/>
            <a:ext cx="4663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0" i="0">
                <a:solidFill>
                  <a:srgbClr val="5F6368"/>
                </a:solidFill>
                <a:latin typeface="Calibri"/>
              </a:rPr>
              <a:t>Se excluyen solo del cálculo de la cuantía mediana; se conservan para los otros dos indicadores.</a:t>
            </a:r>
          </a:p>
        </p:txBody>
      </p:sp>
      <p:sp>
        <p:nvSpPr>
          <p:cNvPr id="18" name="Oval 17"/>
          <p:cNvSpPr/>
          <p:nvPr/>
        </p:nvSpPr>
        <p:spPr>
          <a:xfrm>
            <a:off x="6400800" y="3300984"/>
            <a:ext cx="118872" cy="118872"/>
          </a:xfrm>
          <a:prstGeom prst="ellipse">
            <a:avLst/>
          </a:prstGeom>
          <a:solidFill>
            <a:srgbClr val="325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75120" y="3236976"/>
            <a:ext cx="4663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50" b="1" i="0">
                <a:solidFill>
                  <a:srgbClr val="202124"/>
                </a:solidFill>
                <a:latin typeface="Calibri"/>
              </a:rPr>
              <a:t>Los extremos se conservan siempre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75120" y="3493008"/>
            <a:ext cx="46634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0" i="0">
                <a:solidFill>
                  <a:srgbClr val="5F6368"/>
                </a:solidFill>
                <a:latin typeface="Calibri"/>
              </a:rPr>
              <a:t>Se describen con mediana y percentiles, nunca con media sola.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8" y="4343400"/>
            <a:ext cx="512064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1">
                <a:solidFill>
                  <a:srgbClr val="5F6368"/>
                </a:solidFill>
                <a:latin typeface="Calibri"/>
              </a:rPr>
              <a:t>En esta investigación el valor extremo puede ser el hallazgo, no el error. Eliminarlo sería amputar evidencia.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Los pares de comparación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1248" y="1536192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50" b="0" i="0">
                <a:solidFill>
                  <a:srgbClr val="202124"/>
                </a:solidFill>
                <a:latin typeface="Calibri"/>
              </a:rPr>
              <a:t>El brief exige comparar frente a pares del mismo recorte y documentar la elección. Usamos dos llaves.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41248" y="2194560"/>
            <a:ext cx="5029200" cy="1371600"/>
          </a:xfrm>
          <a:prstGeom prst="roundRect">
            <a:avLst>
              <a:gd name="adj" fmla="val 6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1060704" y="2395728"/>
            <a:ext cx="457200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50" b="1" i="0">
                <a:solidFill>
                  <a:srgbClr val="3259A0"/>
                </a:solidFill>
                <a:latin typeface="Calibri"/>
              </a:rPr>
              <a:t>LLAVE 1 · ORDEN ADMINISTRATIVO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" y="2779776"/>
            <a:ext cx="45720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0" i="0">
                <a:solidFill>
                  <a:srgbClr val="5F6368"/>
                </a:solidFill>
                <a:latin typeface="Calibri"/>
              </a:rPr>
              <a:t>Territorial, Nacional o Corporación Autónoma. Viene en el propio conjunto de datos.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08192" y="2194560"/>
            <a:ext cx="5029200" cy="1371600"/>
          </a:xfrm>
          <a:prstGeom prst="roundRect">
            <a:avLst>
              <a:gd name="adj" fmla="val 6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6327648" y="2395728"/>
            <a:ext cx="457200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50" b="1" i="0">
                <a:solidFill>
                  <a:srgbClr val="3259A0"/>
                </a:solidFill>
                <a:latin typeface="Calibri"/>
              </a:rPr>
              <a:t>LLAVE 2 · CLASE INSTITUCIONAL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27648" y="2779776"/>
            <a:ext cx="45720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0" i="0">
                <a:solidFill>
                  <a:srgbClr val="5F6368"/>
                </a:solidFill>
                <a:latin typeface="Calibri"/>
              </a:rPr>
              <a:t>Variable derivada por el equipo: alcaldías, ESE y hospitales, concejos, personerías, empresas de servicios.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41248" y="3749039"/>
            <a:ext cx="10296144" cy="1965960"/>
          </a:xfrm>
          <a:prstGeom prst="roundRect">
            <a:avLst>
              <a:gd name="adj" fmla="val 6000"/>
            </a:avLst>
          </a:prstGeom>
          <a:solidFill>
            <a:srgbClr val="0B2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143000" y="3968496"/>
            <a:ext cx="969264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50" b="1" i="0">
                <a:solidFill>
                  <a:srgbClr val="E69F00"/>
                </a:solidFill>
                <a:latin typeface="Calibri"/>
              </a:rPr>
              <a:t>UN ERROR QUE ENCONTRAMOS AUDITANDO LA CLASIFICACIÓN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4370832"/>
            <a:ext cx="969264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«Empresa de Servicios Públicos de Acueducto, Alcantarillado y Aseo del Municipio de Apulo» contiene la palabra municipio. Con las reglas en orden ingenuo quedaba clasificada como alcaldía y aparecía como la única alcaldía del recorte con 0 % de contratación directa: un falso hallazgo generado por la clasificación.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3400" b="1">
                <a:solidFill>
                  <a:srgbClr val="0B2E5C"/>
                </a:solidFill>
                <a:latin typeface="Calibri"/>
              </a:rPr>
              <a:t>La evidencia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700">
                <a:solidFill>
                  <a:srgbClr val="5F6368"/>
                </a:solidFill>
                <a:latin typeface="Calibri"/>
              </a:rPr>
              <a:t>Tres tarjetas, cada una rastreable hasta una celda del cuaderno</a:t>
            </a:r>
          </a:p>
        </p:txBody>
      </p:sp>
      <p:pic>
        <p:nvPicPr>
          <p:cNvPr id="4" name="Picture 3" descr="logo_s3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6846" y="5605229"/>
            <a:ext cx="2444739" cy="968842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E1 · El indicador solo significa algo entre pares</a:t>
            </a:r>
          </a:p>
        </p:txBody>
      </p:sp>
      <p:pic>
        <p:nvPicPr>
          <p:cNvPr id="3" name="Picture 2" descr="f3_celda3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" y="1481328"/>
            <a:ext cx="10296144" cy="38935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41248" y="5440680"/>
            <a:ext cx="694944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202124"/>
                </a:solidFill>
                <a:latin typeface="Calibri"/>
              </a:rPr>
              <a:t>Las ESE tramitan el 99,7 % por régimen especial; las alcaldías, el 86,7 % por contratación directa. Un ranking único ordena por el régimen legal, no por comportamiento.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028431" y="5358384"/>
            <a:ext cx="3108960" cy="868680"/>
          </a:xfrm>
          <a:prstGeom prst="roundRect">
            <a:avLst>
              <a:gd name="adj" fmla="val 6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193024" y="5486400"/>
            <a:ext cx="277977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2000" b="1" i="0">
                <a:solidFill>
                  <a:srgbClr val="3259A0"/>
                </a:solidFill>
                <a:latin typeface="Calibri"/>
              </a:rPr>
              <a:t>z = 1,90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93024" y="5870448"/>
            <a:ext cx="2779776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050" b="0" i="0">
                <a:solidFill>
                  <a:srgbClr val="5F6368"/>
                </a:solidFill>
                <a:latin typeface="Calibri"/>
              </a:rPr>
              <a:t>el máximo del grupo, bajo el umbral de 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E2 · La concentración temporal medía el reporte</a:t>
            </a:r>
          </a:p>
        </p:txBody>
      </p:sp>
      <p:pic>
        <p:nvPicPr>
          <p:cNvPr id="3" name="Picture 2" descr="f4_celda3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" y="1481328"/>
            <a:ext cx="10296144" cy="389647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41248" y="5440680"/>
            <a:ext cx="694944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202124"/>
                </a:solidFill>
                <a:latin typeface="Calibri"/>
              </a:rPr>
              <a:t>Las entidades con mayor índice están todas a la izquierda del umbral de cobertura. El pico de enero y febrero es de todo el departamento, no de una entidad.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028431" y="5358384"/>
            <a:ext cx="3108960" cy="868680"/>
          </a:xfrm>
          <a:prstGeom prst="roundRect">
            <a:avLst>
              <a:gd name="adj" fmla="val 6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193024" y="5486400"/>
            <a:ext cx="277977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2000" b="1" i="0">
                <a:solidFill>
                  <a:srgbClr val="E69F00"/>
                </a:solidFill>
                <a:latin typeface="Calibri"/>
              </a:rPr>
              <a:t>37,8 %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93024" y="5870448"/>
            <a:ext cx="2779776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050" b="0" i="0">
                <a:solidFill>
                  <a:srgbClr val="5F6368"/>
                </a:solidFill>
                <a:latin typeface="Calibri"/>
              </a:rPr>
              <a:t>de las firmas de 2025 son de enero y febrero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E3 · Las cuantías no sirven para priorizar</a:t>
            </a:r>
          </a:p>
        </p:txBody>
      </p:sp>
      <p:pic>
        <p:nvPicPr>
          <p:cNvPr id="3" name="Picture 2" descr="f5_celda4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" y="1481328"/>
            <a:ext cx="10296144" cy="38935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41248" y="5440680"/>
            <a:ext cx="694944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202124"/>
                </a:solidFill>
                <a:latin typeface="Calibri"/>
              </a:rPr>
              <a:t>La cuantía mediana por entidad varía en un factor de 3,1, sin ningún salto de escala. El indicador parece medir capacidad fiscal del municipio.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028431" y="5358384"/>
            <a:ext cx="3108960" cy="868680"/>
          </a:xfrm>
          <a:prstGeom prst="roundRect">
            <a:avLst>
              <a:gd name="adj" fmla="val 6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193024" y="5486400"/>
            <a:ext cx="277977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2000" b="1" i="0">
                <a:solidFill>
                  <a:srgbClr val="009E73"/>
                </a:solidFill>
                <a:latin typeface="Calibri"/>
              </a:rPr>
              <a:t>34,9 %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93024" y="5870448"/>
            <a:ext cx="2779776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050" b="0" i="0">
                <a:solidFill>
                  <a:srgbClr val="5F6368"/>
                </a:solidFill>
                <a:latin typeface="Calibri"/>
              </a:rPr>
              <a:t>del valor está en 100 contratos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3400" b="1">
                <a:solidFill>
                  <a:srgbClr val="0B2E5C"/>
                </a:solidFill>
                <a:latin typeface="Calibri"/>
              </a:rPr>
              <a:t>¿La conclusión sobrevive?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700">
                <a:solidFill>
                  <a:srgbClr val="5F6368"/>
                </a:solidFill>
                <a:latin typeface="Calibri"/>
              </a:rPr>
              <a:t>Pusimos a prueba nuestro propio hallazgo antes de defenderlo</a:t>
            </a:r>
          </a:p>
        </p:txBody>
      </p:sp>
      <p:pic>
        <p:nvPicPr>
          <p:cNvPr id="4" name="Picture 3" descr="logo_s3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6846" y="5605229"/>
            <a:ext cx="2444739" cy="968842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La objeción y la variable de confusión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41248" y="1517904"/>
            <a:ext cx="10296144" cy="1234440"/>
          </a:xfrm>
          <a:prstGeom prst="roundRect">
            <a:avLst>
              <a:gd name="adj" fmla="val 6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097280" y="1700784"/>
            <a:ext cx="97840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50" b="1" i="0">
                <a:solidFill>
                  <a:srgbClr val="D55E00"/>
                </a:solidFill>
                <a:latin typeface="Calibri"/>
              </a:rPr>
              <a:t>LA OBJECIÓN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066543"/>
            <a:ext cx="978408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50" b="0" i="1">
                <a:solidFill>
                  <a:srgbClr val="0B2E5C"/>
                </a:solidFill>
                <a:latin typeface="Calibri"/>
              </a:rPr>
              <a:t>«El porcentaje de contratación directa no mide discrecionalidad, sino la composición del objeto contractual. Controlando por tipo de contrato, el hallazgo desaparece».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2926080"/>
            <a:ext cx="10296144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50" b="1" i="0">
                <a:solidFill>
                  <a:srgbClr val="3259A0"/>
                </a:solidFill>
                <a:latin typeface="Calibri"/>
              </a:rPr>
              <a:t>LA TRIPLETA QUE EXAMINAMOS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41248" y="3310128"/>
            <a:ext cx="3383280" cy="1417320"/>
          </a:xfrm>
          <a:prstGeom prst="roundRect">
            <a:avLst>
              <a:gd name="adj" fmla="val 6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Oval 7"/>
          <p:cNvSpPr/>
          <p:nvPr/>
        </p:nvSpPr>
        <p:spPr>
          <a:xfrm>
            <a:off x="1042416" y="3493008"/>
            <a:ext cx="457200" cy="457200"/>
          </a:xfrm>
          <a:prstGeom prst="ellipse">
            <a:avLst/>
          </a:prstGeom>
          <a:solidFill>
            <a:srgbClr val="325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2416" y="3593592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27632" y="3511296"/>
            <a:ext cx="2377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50" b="1" i="0">
                <a:solidFill>
                  <a:srgbClr val="202124"/>
                </a:solidFill>
                <a:latin typeface="Calibri"/>
              </a:rPr>
              <a:t>La entidad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42416" y="4041648"/>
            <a:ext cx="2980944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0" i="0">
                <a:solidFill>
                  <a:srgbClr val="5F6368"/>
                </a:solidFill>
                <a:latin typeface="Calibri"/>
              </a:rPr>
              <a:t>Nombre de la entidad contratante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97680" y="3310128"/>
            <a:ext cx="3383280" cy="1417320"/>
          </a:xfrm>
          <a:prstGeom prst="roundRect">
            <a:avLst>
              <a:gd name="adj" fmla="val 6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Oval 12"/>
          <p:cNvSpPr/>
          <p:nvPr/>
        </p:nvSpPr>
        <p:spPr>
          <a:xfrm>
            <a:off x="4498848" y="3493008"/>
            <a:ext cx="457200" cy="457200"/>
          </a:xfrm>
          <a:prstGeom prst="ellipse">
            <a:avLst/>
          </a:prstGeom>
          <a:solidFill>
            <a:srgbClr val="5B9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98848" y="3593592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84064" y="3511296"/>
            <a:ext cx="2377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50" b="1" i="0">
                <a:solidFill>
                  <a:srgbClr val="202124"/>
                </a:solidFill>
                <a:latin typeface="Calibri"/>
              </a:rPr>
              <a:t>Contratación directa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98848" y="4041648"/>
            <a:ext cx="2980944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0" i="0">
                <a:solidFill>
                  <a:srgbClr val="5F6368"/>
                </a:solidFill>
                <a:latin typeface="Calibri"/>
              </a:rPr>
              <a:t>Proporción sobre su total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54112" y="3310128"/>
            <a:ext cx="3383280" cy="1417320"/>
          </a:xfrm>
          <a:prstGeom prst="roundRect">
            <a:avLst>
              <a:gd name="adj" fmla="val 6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Oval 17"/>
          <p:cNvSpPr/>
          <p:nvPr/>
        </p:nvSpPr>
        <p:spPr>
          <a:xfrm>
            <a:off x="7955280" y="3493008"/>
            <a:ext cx="457200" cy="457200"/>
          </a:xfrm>
          <a:prstGeom prst="ellipse">
            <a:avLst/>
          </a:prstGeom>
          <a:solidFill>
            <a:srgbClr val="D55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955280" y="3593592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Z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40496" y="3511296"/>
            <a:ext cx="2377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50" b="1" i="0">
                <a:solidFill>
                  <a:srgbClr val="202124"/>
                </a:solidFill>
                <a:latin typeface="Calibri"/>
              </a:rPr>
              <a:t>El objeto contractual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55280" y="4041648"/>
            <a:ext cx="2980944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0" i="0">
                <a:solidFill>
                  <a:srgbClr val="5F6368"/>
                </a:solidFill>
                <a:latin typeface="Calibri"/>
              </a:rPr>
              <a:t>¿Es prestación de servicios o no?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41248" y="4919472"/>
            <a:ext cx="10296144" cy="868680"/>
          </a:xfrm>
          <a:prstGeom prst="roundRect">
            <a:avLst>
              <a:gd name="adj" fmla="val 6000"/>
            </a:avLst>
          </a:prstGeom>
          <a:solidFill>
            <a:srgbClr val="0B2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1097280" y="5084064"/>
            <a:ext cx="97840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La objeción tenía razón en su premisa: la correlación de Spearman entre «qué parte de su contratación es prestación de servicios» y «qué parte tramita por directa» es de 0,877 entre 52 entidades.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La prueba: comparar dentro de estratos</a:t>
            </a:r>
          </a:p>
        </p:txBody>
      </p:sp>
      <p:pic>
        <p:nvPicPr>
          <p:cNvPr id="3" name="Picture 2" descr="f7_celda5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5960" y="1463040"/>
            <a:ext cx="8229600" cy="407323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41248" y="5669280"/>
            <a:ext cx="1029614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450" b="1" i="0">
                <a:solidFill>
                  <a:srgbClr val="0B2E5C"/>
                </a:solidFill>
                <a:latin typeface="Calibri"/>
              </a:rPr>
              <a:t>El tercer panel es el indicador que le recomendamos al cliente: contratación directa en los contratos que NO son de prestación de servicios.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Veredicto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41248" y="1517904"/>
            <a:ext cx="10296144" cy="1143000"/>
          </a:xfrm>
          <a:prstGeom prst="roundRect">
            <a:avLst>
              <a:gd name="adj" fmla="val 6000"/>
            </a:avLst>
          </a:prstGeom>
          <a:solidFill>
            <a:srgbClr val="0B2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143000" y="1719072"/>
            <a:ext cx="96926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PARCIALMENTE RESPALDADA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2194560"/>
            <a:ext cx="9692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50" b="0" i="0">
                <a:solidFill>
                  <a:srgbClr val="5B9BD5"/>
                </a:solidFill>
                <a:latin typeface="Calibri"/>
              </a:rPr>
              <a:t>Ninguna entidad cruza el umbral que fijamos antes de mirar los datos.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2852928"/>
            <a:ext cx="10296144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50" b="1" i="0">
                <a:solidFill>
                  <a:srgbClr val="3259A0"/>
                </a:solidFill>
                <a:latin typeface="Calibri"/>
              </a:rPr>
              <a:t>POR QUÉ NO BAJAMOS EL UMBRAL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3236976"/>
            <a:ext cx="10296144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50" b="0" i="0">
                <a:solidFill>
                  <a:srgbClr val="202124"/>
                </a:solidFill>
                <a:latin typeface="Calibri"/>
              </a:rPr>
              <a:t>Cuando quedó claro que nadie alcanzaba z ≥ 2, la alternativa cómoda era bajar el umbral o cambiar de indicador hasta que algo saliera. Conservamos el criterio registrado. Esa es la decisión que no delegamos.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4069080"/>
            <a:ext cx="10296144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50" b="1" i="0">
                <a:solidFill>
                  <a:srgbClr val="3259A0"/>
                </a:solidFill>
                <a:latin typeface="Calibri"/>
              </a:rPr>
              <a:t>LO QUE SÍ SOSTIENE LA EVIDENCIA</a:t>
            </a:r>
          </a:p>
        </p:txBody>
      </p:sp>
      <p:sp>
        <p:nvSpPr>
          <p:cNvPr id="9" name="Oval 8"/>
          <p:cNvSpPr/>
          <p:nvPr/>
        </p:nvSpPr>
        <p:spPr>
          <a:xfrm>
            <a:off x="841248" y="4526280"/>
            <a:ext cx="118872" cy="118872"/>
          </a:xfrm>
          <a:prstGeom prst="ellipse">
            <a:avLst/>
          </a:prstGeom>
          <a:solidFill>
            <a:srgbClr val="325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15568" y="4462272"/>
            <a:ext cx="1002182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50" b="1" i="0">
                <a:solidFill>
                  <a:srgbClr val="202124"/>
                </a:solidFill>
                <a:latin typeface="Calibri"/>
              </a:rPr>
              <a:t>El indicador útil no es el que traíamos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" y="4718304"/>
            <a:ext cx="1002182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0" i="0">
                <a:solidFill>
                  <a:srgbClr val="5F6368"/>
                </a:solidFill>
                <a:latin typeface="Calibri"/>
              </a:rPr>
              <a:t>Es «% de contratación directa en contratos que NO son de prestación de servicios».</a:t>
            </a:r>
          </a:p>
        </p:txBody>
      </p:sp>
      <p:sp>
        <p:nvSpPr>
          <p:cNvPr id="12" name="Oval 11"/>
          <p:cNvSpPr/>
          <p:nvPr/>
        </p:nvSpPr>
        <p:spPr>
          <a:xfrm>
            <a:off x="841248" y="5074920"/>
            <a:ext cx="118872" cy="118872"/>
          </a:xfrm>
          <a:prstGeom prst="ellipse">
            <a:avLst/>
          </a:prstGeom>
          <a:solidFill>
            <a:srgbClr val="325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15568" y="5010912"/>
            <a:ext cx="1002182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50" b="1" i="0">
                <a:solidFill>
                  <a:srgbClr val="202124"/>
                </a:solidFill>
                <a:latin typeface="Calibri"/>
              </a:rPr>
              <a:t>Con él la lista corta se reordena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5568" y="5266944"/>
            <a:ext cx="1002182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0" i="0">
                <a:solidFill>
                  <a:srgbClr val="5F6368"/>
                </a:solidFill>
                <a:latin typeface="Calibri"/>
              </a:rPr>
              <a:t>Soacha 67,9 %, Tocancipá 63,3 %, Tenjo 62,1 %, Sopó y Madrid 60,8 %, Chía 60,4 % — frente a una mediana de grupo del 37,1 %.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Qué le entregamos al cliente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1248" y="1517904"/>
            <a:ext cx="512064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50" b="1" i="0">
                <a:solidFill>
                  <a:srgbClr val="3259A0"/>
                </a:solidFill>
                <a:latin typeface="Calibri"/>
              </a:rPr>
              <a:t>RECOMENDACIONES</a:t>
            </a:r>
          </a:p>
        </p:txBody>
      </p:sp>
      <p:sp>
        <p:nvSpPr>
          <p:cNvPr id="4" name="Oval 3"/>
          <p:cNvSpPr/>
          <p:nvPr/>
        </p:nvSpPr>
        <p:spPr>
          <a:xfrm>
            <a:off x="841248" y="1965960"/>
            <a:ext cx="118872" cy="118872"/>
          </a:xfrm>
          <a:prstGeom prst="ellipse">
            <a:avLst/>
          </a:prstGeom>
          <a:solidFill>
            <a:srgbClr val="325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" y="1901952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202124"/>
                </a:solidFill>
                <a:latin typeface="Calibri"/>
              </a:rPr>
              <a:t>Cambiar el indicador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" y="2157984"/>
            <a:ext cx="48463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5F6368"/>
                </a:solidFill>
                <a:latin typeface="Calibri"/>
              </a:rPr>
              <a:t>Restringirlo a los contratos que no son de prestación de servicios.</a:t>
            </a:r>
          </a:p>
        </p:txBody>
      </p:sp>
      <p:sp>
        <p:nvSpPr>
          <p:cNvPr id="7" name="Oval 6"/>
          <p:cNvSpPr/>
          <p:nvPr/>
        </p:nvSpPr>
        <p:spPr>
          <a:xfrm>
            <a:off x="841248" y="2514600"/>
            <a:ext cx="118872" cy="118872"/>
          </a:xfrm>
          <a:prstGeom prst="ellipse">
            <a:avLst/>
          </a:prstGeom>
          <a:solidFill>
            <a:srgbClr val="325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15568" y="2450592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202124"/>
                </a:solidFill>
                <a:latin typeface="Calibri"/>
              </a:rPr>
              <a:t>Tratar la lista como orden de revisión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" y="2706624"/>
            <a:ext cx="48463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5F6368"/>
                </a:solidFill>
                <a:latin typeface="Calibri"/>
              </a:rPr>
              <a:t>Nunca como señalamiento: ninguna cruza el umbral.</a:t>
            </a:r>
          </a:p>
        </p:txBody>
      </p:sp>
      <p:sp>
        <p:nvSpPr>
          <p:cNvPr id="10" name="Oval 9"/>
          <p:cNvSpPr/>
          <p:nvPr/>
        </p:nvSpPr>
        <p:spPr>
          <a:xfrm>
            <a:off x="841248" y="3063240"/>
            <a:ext cx="118872" cy="118872"/>
          </a:xfrm>
          <a:prstGeom prst="ellipse">
            <a:avLst/>
          </a:prstGeom>
          <a:solidFill>
            <a:srgbClr val="325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15568" y="2999232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202124"/>
                </a:solidFill>
                <a:latin typeface="Calibri"/>
              </a:rPr>
              <a:t>Separar la lista de transparencia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" y="3255264"/>
            <a:ext cx="48463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5F6368"/>
                </a:solidFill>
                <a:latin typeface="Calibri"/>
              </a:rPr>
              <a:t>Las 15 entidades con reporte incompleto van por otra vía.</a:t>
            </a:r>
          </a:p>
        </p:txBody>
      </p:sp>
      <p:sp>
        <p:nvSpPr>
          <p:cNvPr id="13" name="Oval 12"/>
          <p:cNvSpPr/>
          <p:nvPr/>
        </p:nvSpPr>
        <p:spPr>
          <a:xfrm>
            <a:off x="841248" y="3611880"/>
            <a:ext cx="118872" cy="118872"/>
          </a:xfrm>
          <a:prstGeom prst="ellipse">
            <a:avLst/>
          </a:prstGeom>
          <a:solidFill>
            <a:srgbClr val="325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15568" y="3547872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202124"/>
                </a:solidFill>
                <a:latin typeface="Calibri"/>
              </a:rPr>
              <a:t>Pedir dos fuentes más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5568" y="3803904"/>
            <a:ext cx="48463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5F6368"/>
                </a:solidFill>
                <a:latin typeface="Calibri"/>
              </a:rPr>
              <a:t>La tabla de adiciones y la categorización municipal.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1517904"/>
            <a:ext cx="475488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50" b="1" i="0">
                <a:solidFill>
                  <a:srgbClr val="D55E00"/>
                </a:solidFill>
                <a:latin typeface="Calibri"/>
              </a:rPr>
              <a:t>LO QUE NO PODEMOS AFIRMAR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0" y="1901952"/>
            <a:ext cx="4754880" cy="3108960"/>
          </a:xfrm>
          <a:prstGeom prst="roundRect">
            <a:avLst>
              <a:gd name="adj" fmla="val 6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6638544" y="2121408"/>
            <a:ext cx="4279392" cy="2697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0" i="0">
                <a:solidFill>
                  <a:srgbClr val="202124"/>
                </a:solidFill>
                <a:latin typeface="Calibri"/>
              </a:rPr>
              <a:t>El recorte no tiene ninguna variable de resultado del contrato: ni cumplimiento, ni sobrecostos, ni adiciones, ni hallazgos de control.</a:t>
            </a:r>
          </a:p>
          <a:p>
            <a:pPr algn="l">
              <a:spcAft>
                <a:spcPts val="400"/>
              </a:spcAft>
            </a:pPr>
            <a:r>
              <a:rPr sz="1350" b="0" i="0">
                <a:solidFill>
                  <a:srgbClr val="202124"/>
                </a:solidFill>
                <a:latin typeface="Calibri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350" b="0" i="0">
                <a:solidFill>
                  <a:srgbClr val="202124"/>
                </a:solidFill>
                <a:latin typeface="Calibri"/>
              </a:rPr>
              <a:t>Tampoco un denominador de tamaño del municipio.</a:t>
            </a:r>
          </a:p>
          <a:p>
            <a:pPr algn="l">
              <a:spcAft>
                <a:spcPts val="400"/>
              </a:spcAft>
            </a:pPr>
            <a:r>
              <a:rPr sz="1350" b="0" i="0">
                <a:solidFill>
                  <a:srgbClr val="202124"/>
                </a:solidFill>
                <a:latin typeface="Calibri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350" b="0" i="0">
                <a:solidFill>
                  <a:srgbClr val="202124"/>
                </a:solidFill>
                <a:latin typeface="Calibri"/>
              </a:rPr>
              <a:t>Controlamos una variable de confusión y declaramos tres sin controlar: capacidad fiscal, capacidad institucional y la vigencia.</a:t>
            </a:r>
          </a:p>
          <a:p>
            <a:pPr algn="l">
              <a:spcAft>
                <a:spcPts val="400"/>
              </a:spcAft>
            </a:pPr>
            <a:r>
              <a:rPr sz="1350" b="0" i="0">
                <a:solidFill>
                  <a:srgbClr val="202124"/>
                </a:solidFill>
                <a:latin typeface="Calibri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350" b="0" i="0">
                <a:solidFill>
                  <a:srgbClr val="202124"/>
                </a:solidFill>
                <a:latin typeface="Calibri"/>
              </a:rPr>
              <a:t>Los datos no permiten imputar irregularidades a ninguna entidad ni persona.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3400" b="1">
                <a:solidFill>
                  <a:srgbClr val="0B2E5C"/>
                </a:solidFill>
                <a:latin typeface="Calibri"/>
              </a:rPr>
              <a:t>El dato abierto no basta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r>
              <a:rPr sz="1600">
                <a:solidFill>
                  <a:srgbClr val="5F6368"/>
                </a:solidFill>
                <a:latin typeface="Calibri"/>
              </a:rPr>
              <a:t>Entre el dato publicado y la conclusión defendible median decisiones de preparación, una definición explícita de comparabilidad y el control deliberado de las explicaciones alternativas.</a:t>
            </a:r>
          </a:p>
        </p:txBody>
      </p:sp>
      <p:pic>
        <p:nvPicPr>
          <p:cNvPr id="4" name="Picture 3" descr="logo_s3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6846" y="5605229"/>
            <a:ext cx="2444739" cy="96884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32104" y="5532120"/>
            <a:ext cx="818387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3259A0"/>
                </a:solidFill>
                <a:latin typeface="Calibri"/>
              </a:rPr>
              <a:t>Equipo 5 · Expediente C · Cundinamarca 2024-2025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Personalizado 7">
      <a:dk1>
        <a:sysClr val="windowText" lastClr="000000"/>
      </a:dk1>
      <a:lt1>
        <a:sysClr val="window" lastClr="FFFFFF"/>
      </a:lt1>
      <a:dk2>
        <a:srgbClr val="595959"/>
      </a:dk2>
      <a:lt2>
        <a:srgbClr val="EEEEEE"/>
      </a:lt2>
      <a:accent1>
        <a:srgbClr val="3259A0"/>
      </a:accent1>
      <a:accent2>
        <a:srgbClr val="4472C4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67</TotalTime>
  <Words>0</Words>
  <Application>Microsoft Office PowerPoint</Application>
  <PresentationFormat>Panorámica</PresentationFormat>
  <Paragraphs>0</Paragraphs>
  <Slides>6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6</vt:i4>
      </vt:variant>
    </vt:vector>
  </HeadingPairs>
  <TitlesOfParts>
    <vt:vector size="10" baseType="lpstr">
      <vt:lpstr>Arial</vt:lpstr>
      <vt:lpstr>Titillium</vt:lpstr>
      <vt:lpstr>Titillium Web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Microsoft Office User</dc:creator>
  <cp:lastModifiedBy>Orlando Bautistag</cp:lastModifiedBy>
  <cp:revision>6</cp:revision>
  <dcterms:created xsi:type="dcterms:W3CDTF">2024-01-22T20:11:52Z</dcterms:created>
  <dcterms:modified xsi:type="dcterms:W3CDTF">2024-02-03T04:20:47Z</dcterms:modified>
</cp:coreProperties>
</file>